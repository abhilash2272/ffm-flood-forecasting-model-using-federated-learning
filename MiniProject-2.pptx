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9" r:id="rId1"/>
  </p:sldMasterIdLst>
  <p:notesMasterIdLst>
    <p:notesMasterId r:id="rId18"/>
  </p:notesMasterIdLst>
  <p:sldIdLst>
    <p:sldId id="256" r:id="rId2"/>
    <p:sldId id="303" r:id="rId3"/>
    <p:sldId id="304" r:id="rId4"/>
    <p:sldId id="305" r:id="rId5"/>
    <p:sldId id="306" r:id="rId6"/>
    <p:sldId id="311" r:id="rId7"/>
    <p:sldId id="316" r:id="rId8"/>
    <p:sldId id="308" r:id="rId9"/>
    <p:sldId id="309" r:id="rId10"/>
    <p:sldId id="313" r:id="rId11"/>
    <p:sldId id="317" r:id="rId12"/>
    <p:sldId id="318" r:id="rId13"/>
    <p:sldId id="319" r:id="rId14"/>
    <p:sldId id="315" r:id="rId15"/>
    <p:sldId id="31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E8926-8CAA-4D83-864F-3962AD6946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D81F2-3907-489E-9444-5E87381946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2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5113-A4DD-6622-20D3-A90FE4933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44AC8-05E7-083F-9B10-9FF32371D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009D5-E0B7-3ABC-777E-4E76D333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D42-2F25-4F41-A08C-D4EDC15E8BC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CF2B6-3591-69C2-5461-814192ED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EB81B-0A71-E2A5-C10A-89F80D41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0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5461-28C2-A10F-9E04-B4B27A2A2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065C-DFC8-C03B-AE8C-997CB0CB0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247DE-7213-2DE8-E033-F42B0D15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668F6-91AE-4B6C-943E-E2F964D5CBC6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78FEF-C1BF-7AE2-059C-C320DBA5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A7D46-6BCE-A592-8892-79CE058B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52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95DA-19D8-3F2B-D4DE-89BB9503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3F056-DE67-0F77-3979-205DAA4DD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BC42-4A19-A9A1-A374-8299FCD3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4849-A006-49C5-84CB-D3B461049D19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20D15-3AD3-09A7-BCFC-3FF52E4D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C6BC-18B3-9634-0314-C6EC427D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5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B03F-C52F-BDCF-ABDA-B3FBC835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7D2D-E148-4C08-2FB6-DFCB71A74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AD9C8-3328-64F9-2697-AC4B0AD8A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1A317-EED8-3987-B057-9090153D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48EEC-7D77-4E25-9BD3-571645F5E848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47C5A-95A2-692F-E992-EAED5136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B2433-2DE7-8167-E906-6880CA5C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4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F678-5F91-8978-9C30-74F9CE22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6E54A-FBC7-845D-66C8-18A252603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0D023-F623-FD42-8757-F22DC4CB5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4CBC7-F317-D935-7101-12FEFE529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A70E2-78A3-6987-915E-97787B7DE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DBE98-2C01-4DBA-3982-119D94FF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D2E7-1492-41C7-8FB6-DE66F246419C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8C4D4-C148-4BB0-8E0C-4515AE8A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BBF54-8D46-0EFF-25AC-845F4E12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97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5497-2350-35AA-1064-B98402D3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AE660-7643-F052-F8CE-8855881B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60402-28F7-40D8-B75C-1CF21B5CA86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488B6-45CA-5763-A243-E0D3D6CD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FE031-4543-9740-A54D-E270F6B0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BF5F5C-E0BA-0E3B-BC0E-85DCAB52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8EA6-72D5-4BBF-B45D-9ED1B2D8E602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F5EC5-0457-F1AD-5D9C-6D9A980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C97BC-7EEA-303F-0A8B-7CC465D9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3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8B54-369A-3FB2-CFBE-F5EE3290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84F8-511C-A5A7-EA1B-0AC2B18F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65653-7E39-8424-4822-A3712B293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5B90F-2B39-6C1F-B968-1D095B661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0C2E-FA1E-4072-8892-B7014B2D464F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A1E52-FA0A-79E2-41A6-669E1EBE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15D0B-9325-5198-2A4C-0CF78AC4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0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3798-7F6D-4463-8F31-9165BE86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2358A-4CE2-BA77-D189-58EA26337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DA027-D259-1E5A-1296-08E18F229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B0554-FE77-D135-2C18-608F82AE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0A26A-8D56-4920-848E-6B55C893CEA5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459FC-A5C5-95C9-74EF-54B4C24B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68503-E8C1-3C5D-50A0-95E34B1A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1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471E-B1A2-EC56-6894-5A845B57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E8314-82DB-8437-8FC7-D005B1A47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EAB25-0C2D-DACE-F95E-DBADC0BF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2D53-48F5-428D-8942-5A3B9F525AEA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36475-0510-1AAE-B45F-A2E3804E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A1DB7-3325-BAB7-BF40-0A1469CA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5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C6E86-74B4-A160-00E9-D374AB66E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46BC7-AAE7-0751-7531-CD68B00B2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C0848-C4AA-2286-A27A-F1657854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5B67-0786-4F6C-8C78-A4001F94E607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73A58-74C4-294F-4692-1CD289F2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D2B51-8B2A-84A8-373C-71D0418C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540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587F4-17A1-FA28-66D7-8FCC080B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E66B-BB46-CC7B-3CCB-F81A7D9CA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B19AD-FD03-007A-68AE-317B64B55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3EB5C-B4A5-43B1-8958-A2F809DED26F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CF4DB-40CD-3611-D363-0891F448B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0EDA0-86AA-860A-F588-35499823C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9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EA04-C811-53B5-72D1-9FD00966A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368" y="2517058"/>
            <a:ext cx="10658167" cy="1042219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FFM: Flood Forecasting Model using Federated Learning </a:t>
            </a:r>
            <a:br>
              <a:rPr lang="en-IN" sz="3200" b="1" dirty="0"/>
            </a:b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1CC86-CA75-F135-B610-B7B91283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7717" y="4168452"/>
            <a:ext cx="4581831" cy="1858948"/>
          </a:xfrm>
        </p:spPr>
        <p:txBody>
          <a:bodyPr>
            <a:noAutofit/>
          </a:bodyPr>
          <a:lstStyle/>
          <a:p>
            <a:pPr algn="just"/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</a:p>
          <a:p>
            <a:pPr algn="l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Abhilash (23B81A05KY)</a:t>
            </a:r>
          </a:p>
          <a:p>
            <a:pPr algn="l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Pavani Reddy (23B81A05LZ)</a:t>
            </a:r>
          </a:p>
          <a:p>
            <a:pPr algn="l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Sai Raghava (23B81A05MG)</a:t>
            </a:r>
          </a:p>
          <a:p>
            <a:pPr algn="l"/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5660B-0830-E7BC-7315-CE4D769F9230}"/>
              </a:ext>
            </a:extLst>
          </p:cNvPr>
          <p:cNvSpPr txBox="1"/>
          <p:nvPr/>
        </p:nvSpPr>
        <p:spPr>
          <a:xfrm>
            <a:off x="1827611" y="289671"/>
            <a:ext cx="94417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G omega"/>
                <a:cs typeface="Times New Roman" pitchFamily="18" charset="0"/>
              </a:rPr>
              <a:t>CVR COLLEGE OF ENGINEERING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(An UGC Autonomous Institute, Accredited by NAAC with ‘A’ Grade)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Department of CSE</a:t>
            </a:r>
            <a:b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B. Tech </a:t>
            </a:r>
            <a:r>
              <a:rPr lang="en-IN" sz="2400" b="1" dirty="0">
                <a:latin typeface="Times New Roman" panose="02020603050405020304" pitchFamily="18" charset="0"/>
                <a:cs typeface="Times New Roman" pitchFamily="18" charset="0"/>
              </a:rPr>
              <a:t>CSE-J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 III Year II Semester</a:t>
            </a:r>
          </a:p>
          <a:p>
            <a:pPr algn="ctr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Oriented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5781C-DADC-4274-F818-371BA09179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793" y="387886"/>
            <a:ext cx="1461393" cy="1531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9B4C4F-CF89-7D33-46E6-E2CFCE31A1E6}"/>
              </a:ext>
            </a:extLst>
          </p:cNvPr>
          <p:cNvSpPr txBox="1"/>
          <p:nvPr/>
        </p:nvSpPr>
        <p:spPr>
          <a:xfrm>
            <a:off x="837730" y="3934595"/>
            <a:ext cx="39918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r>
              <a:rPr lang="en-IN" sz="2400" dirty="0"/>
              <a:t>Dr T. Rama Rao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55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2ECF-BE19-A7EB-82F2-209BB76D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93EF-9483-2408-F86B-E2DFD6AC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:</a:t>
            </a:r>
            <a:endParaRPr lang="en-IN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7DC28E-CE4A-98CB-080C-26F480E5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1148"/>
            <a:ext cx="10515600" cy="4485815"/>
          </a:xfrm>
        </p:spPr>
        <p:txBody>
          <a:bodyPr>
            <a:normAutofit/>
          </a:bodyPr>
          <a:lstStyle/>
          <a:p>
            <a:pPr marL="1800" indent="0" algn="just">
              <a:lnSpc>
                <a:spcPct val="100000"/>
              </a:lnSpc>
              <a:buNone/>
            </a:pPr>
            <a:r>
              <a:rPr lang="en-US" sz="2400" dirty="0"/>
              <a:t>India experiences severe monsoon floods causing major damage. Traditional centralized prediction systems face privacy issues, bandwidth limits, and lack collaborative learning. </a:t>
            </a:r>
            <a:r>
              <a:rPr lang="en-US" sz="2400" dirty="0" err="1"/>
              <a:t>FedFlood</a:t>
            </a:r>
            <a:r>
              <a:rPr lang="en-US" sz="2400" dirty="0"/>
              <a:t> addresses this using Federated Learning with a Feed-Forward Neural Network across 18 stations, where only model weights are shared and combined using </a:t>
            </a:r>
            <a:r>
              <a:rPr lang="en-US" sz="2400" dirty="0" err="1"/>
              <a:t>FedAvg</a:t>
            </a:r>
            <a:r>
              <a:rPr lang="en-US" sz="2400" dirty="0"/>
              <a:t>. Built with Python, TensorFlow/</a:t>
            </a:r>
            <a:r>
              <a:rPr lang="en-US" sz="2400" dirty="0" err="1"/>
              <a:t>Keras</a:t>
            </a:r>
            <a:r>
              <a:rPr lang="en-US" sz="2400" dirty="0"/>
              <a:t>, </a:t>
            </a:r>
            <a:r>
              <a:rPr lang="en-US" sz="2400" dirty="0" err="1"/>
              <a:t>Streamlit</a:t>
            </a:r>
            <a:r>
              <a:rPr lang="en-US" sz="2400" dirty="0"/>
              <a:t>, and Plotly, it includes monitoring and prediction dashboards. Trained on 50,000 records, it achieves 96.2% accuracy, showing strong potential for privacy-preserving flood forecasting.</a:t>
            </a:r>
          </a:p>
        </p:txBody>
      </p:sp>
    </p:spTree>
    <p:extLst>
      <p:ext uri="{BB962C8B-B14F-4D97-AF65-F5344CB8AC3E}">
        <p14:creationId xmlns:p14="http://schemas.microsoft.com/office/powerpoint/2010/main" val="355967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9471-3FE1-AE66-A786-279483C7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088C-9883-E99D-102A-F89A25EEE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1F0C5B7-FD77-9227-978A-3BB52F42678D}"/>
              </a:ext>
            </a:extLst>
          </p:cNvPr>
          <p:cNvSpPr txBox="1">
            <a:spLocks/>
          </p:cNvSpPr>
          <p:nvPr/>
        </p:nvSpPr>
        <p:spPr>
          <a:xfrm>
            <a:off x="598093" y="3074323"/>
            <a:ext cx="11294023" cy="1749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21E92-2E7F-2603-837F-DE866B528A51}"/>
              </a:ext>
            </a:extLst>
          </p:cNvPr>
          <p:cNvSpPr txBox="1"/>
          <p:nvPr/>
        </p:nvSpPr>
        <p:spPr>
          <a:xfrm>
            <a:off x="786581" y="1282046"/>
            <a:ext cx="11105535" cy="511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Problem Statement: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Increasing flood disasters demand effective prediction and mitigation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Flood risk is rising due to climate change, urbanization, and hydrological extremes.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Accurate flood prediction is challenging because of complex environmental factors.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Traditional methods have limited accuracy, requiring advanced techniques.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Machine Learning improves prediction but raises data privacy and security issues.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project proposes a Flood Forecasting Model using Federated Learning for secure and efficient decentralized prediction.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026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6521-2959-7781-611A-30D7FA19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6320-5728-C0EE-AA03-222E98E3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Objectives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3793AB-A968-BF58-AB10-ED763901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82046"/>
            <a:ext cx="10676467" cy="53645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Traditional flood prediction methods (Statistical, Regression, ARIMA) have limited accuracy and adaptability.</a:t>
            </a:r>
          </a:p>
          <a:p>
            <a:r>
              <a:rPr lang="en-US" sz="2400" dirty="0"/>
              <a:t>Machine Learning models improved prediction but require large centralized datasets, causing privacy, security, and communication issues.</a:t>
            </a:r>
          </a:p>
          <a:p>
            <a:r>
              <a:rPr lang="en-US" sz="2400" dirty="0"/>
              <a:t>Recent research shows Federated Learning enables decentralized model training without sharing raw data, improving privacy and efficiency.</a:t>
            </a:r>
          </a:p>
          <a:p>
            <a:r>
              <a:rPr lang="en-US" sz="2400" dirty="0"/>
              <a:t>This project aims to design a robust Flood Forecasting Model (FFM) using advanced Machine Learning techniques.</a:t>
            </a:r>
          </a:p>
          <a:p>
            <a:r>
              <a:rPr lang="en-US" sz="2400" dirty="0"/>
              <a:t>Implement Federated Learning to keep data secure, decentralized, and privacy-preserving.</a:t>
            </a:r>
          </a:p>
          <a:p>
            <a:r>
              <a:rPr lang="en-US" sz="2400" dirty="0"/>
              <a:t>Enable local data processing and model training without centralized data sharing.</a:t>
            </a:r>
          </a:p>
          <a:p>
            <a:r>
              <a:rPr lang="en-US" sz="2400" dirty="0"/>
              <a:t>Enable local data processing and model training without centralized data sharing.</a:t>
            </a:r>
          </a:p>
          <a:p>
            <a:r>
              <a:rPr lang="en-US" sz="2400" dirty="0"/>
              <a:t>Help authorities take proactive actions for flood preparedness, mitigation,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400025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33F2-D6F5-19EE-D29D-56D751AA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BFF2-9116-CF77-8245-6DD44A1C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endParaRPr lang="en-IN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5A2B40-AD3E-6B60-1BB2-17B9AD098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Traditional flood prediction systems use centralized data processing, where large environmental datasets are sent to a central server.</a:t>
            </a:r>
          </a:p>
          <a:p>
            <a:r>
              <a:rPr lang="en-US" sz="2400" dirty="0"/>
              <a:t>These systems rely on statistical and conventional machine learning models for flood forecasting.</a:t>
            </a:r>
          </a:p>
          <a:p>
            <a:r>
              <a:rPr lang="en-US" sz="2400" dirty="0"/>
              <a:t>Centralized approaches create data privacy and security risks due to raw data sharing.</a:t>
            </a:r>
          </a:p>
          <a:p>
            <a:r>
              <a:rPr lang="en-US" sz="2400" dirty="0"/>
              <a:t>Large data transfer causes high communication cost and network latency, affecting real-time prediction.</a:t>
            </a:r>
          </a:p>
          <a:p>
            <a:r>
              <a:rPr lang="en-US" sz="2400" dirty="0"/>
              <a:t>System performance depends heavily on data availability and network reliability.</a:t>
            </a:r>
          </a:p>
          <a:p>
            <a:r>
              <a:rPr lang="en-US" sz="2400" dirty="0"/>
              <a:t>Limited ability to provide accurate and timely early flood warnings.</a:t>
            </a:r>
          </a:p>
        </p:txBody>
      </p:sp>
    </p:spTree>
    <p:extLst>
      <p:ext uri="{BB962C8B-B14F-4D97-AF65-F5344CB8AC3E}">
        <p14:creationId xmlns:p14="http://schemas.microsoft.com/office/powerpoint/2010/main" val="170243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75F1-5675-2D43-C4FD-C2E58049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7" y="319088"/>
            <a:ext cx="10515600" cy="1362228"/>
          </a:xfrm>
        </p:spPr>
        <p:txBody>
          <a:bodyPr>
            <a:normAutofit/>
          </a:bodyPr>
          <a:lstStyle/>
          <a:p>
            <a:r>
              <a:rPr lang="en-US" sz="4000" b="1" dirty="0"/>
              <a:t>Functional Requirements</a:t>
            </a:r>
            <a:endParaRPr lang="en-IN" sz="40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5EADA-AF55-EFEA-830C-ABD1F2984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738" y="1759974"/>
            <a:ext cx="10684062" cy="4778938"/>
          </a:xfrm>
        </p:spPr>
        <p:txBody>
          <a:bodyPr>
            <a:noAutofit/>
          </a:bodyPr>
          <a:lstStyle/>
          <a:p>
            <a:r>
              <a:rPr lang="en-US" sz="2400" dirty="0"/>
              <a:t>Collect environmental data such as rainfall, water level, snow melting, and flow routing from local stations.</a:t>
            </a:r>
          </a:p>
          <a:p>
            <a:r>
              <a:rPr lang="en-US" sz="2400" dirty="0"/>
              <a:t>Train local machine learning models at multiple client nodes using Federated Learning.</a:t>
            </a:r>
          </a:p>
          <a:p>
            <a:r>
              <a:rPr lang="en-US" sz="2400" dirty="0"/>
              <a:t>Aggregate local model updates at the central server to build a global prediction model.</a:t>
            </a:r>
          </a:p>
          <a:p>
            <a:r>
              <a:rPr lang="en-US" sz="2400" dirty="0"/>
              <a:t>Predict flood risk and expected water level with 5-day early warning.</a:t>
            </a:r>
          </a:p>
          <a:p>
            <a:r>
              <a:rPr lang="en-US" sz="2400" dirty="0"/>
              <a:t>Generate flood alerts and notifications for disaster management authorities.</a:t>
            </a:r>
          </a:p>
          <a:p>
            <a:r>
              <a:rPr lang="en-US" sz="2400" dirty="0"/>
              <a:t>Continuously update and improve the model using new environmental data.</a:t>
            </a:r>
          </a:p>
        </p:txBody>
      </p:sp>
    </p:spTree>
    <p:extLst>
      <p:ext uri="{BB962C8B-B14F-4D97-AF65-F5344CB8AC3E}">
        <p14:creationId xmlns:p14="http://schemas.microsoft.com/office/powerpoint/2010/main" val="138943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B615-1A26-6C81-115D-EDA0AA80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Non-Functional Requirements</a:t>
            </a:r>
            <a:endParaRPr lang="en-IN" sz="40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4BFAB-C4F3-BAC1-33DB-00C978CBF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69806"/>
            <a:ext cx="10437812" cy="4419857"/>
          </a:xfrm>
        </p:spPr>
        <p:txBody>
          <a:bodyPr>
            <a:normAutofit/>
          </a:bodyPr>
          <a:lstStyle/>
          <a:p>
            <a:r>
              <a:rPr lang="en-US" sz="2400" dirty="0"/>
              <a:t>Security: Raw data must remain local, only model parameters are shared.</a:t>
            </a:r>
          </a:p>
          <a:p>
            <a:r>
              <a:rPr lang="en-US" sz="2400" dirty="0"/>
              <a:t>Performance: System should provide timely and accurate flood prediction.</a:t>
            </a:r>
          </a:p>
          <a:p>
            <a:r>
              <a:rPr lang="en-IN" sz="2400" dirty="0"/>
              <a:t>Scalability: Support multiple client stations and large environmental datasets.</a:t>
            </a:r>
          </a:p>
          <a:p>
            <a:r>
              <a:rPr lang="en-US" sz="2400" dirty="0"/>
              <a:t>Reliability: System should work consistently under different environmental conditions.</a:t>
            </a:r>
          </a:p>
          <a:p>
            <a:r>
              <a:rPr lang="en-US" sz="2400" dirty="0"/>
              <a:t>Efficiency: Reduce communication cost and network latency compared to centralized systems.</a:t>
            </a:r>
          </a:p>
          <a:p>
            <a:r>
              <a:rPr lang="en-US" sz="2400" dirty="0"/>
              <a:t>Usability: Simple and easy-to-understand interface for monitoring and alerts.</a:t>
            </a:r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0324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3D4A-35FC-DF11-14D9-98FE9FBB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E60233-147B-F6D7-C1DC-C4EDA19E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2"/>
            <a:ext cx="10515600" cy="5911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Software Requirements </a:t>
            </a:r>
          </a:p>
          <a:p>
            <a:r>
              <a:rPr lang="en-IN" sz="2400" dirty="0"/>
              <a:t>Development Environment: Anaconda</a:t>
            </a:r>
          </a:p>
          <a:p>
            <a:r>
              <a:rPr lang="en-IN" sz="2400" dirty="0"/>
              <a:t>Programming Language: Python</a:t>
            </a:r>
          </a:p>
          <a:p>
            <a:r>
              <a:rPr lang="en-US" sz="2400" dirty="0"/>
              <a:t>Platform: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  <a:p>
            <a:r>
              <a:rPr lang="en-US" sz="2400" dirty="0"/>
              <a:t>Libraries: NumPy, Pandas, Scikit-learn, Matplotlib</a:t>
            </a:r>
          </a:p>
          <a:p>
            <a:r>
              <a:rPr lang="en-IN" sz="2400" dirty="0"/>
              <a:t>Frontend (Interface): </a:t>
            </a:r>
            <a:r>
              <a:rPr lang="en-IN" sz="2400" dirty="0" err="1"/>
              <a:t>Streamlit</a:t>
            </a:r>
            <a:endParaRPr lang="en-IN" sz="2400" dirty="0"/>
          </a:p>
          <a:p>
            <a:pPr marL="0" indent="0">
              <a:buNone/>
            </a:pPr>
            <a:r>
              <a:rPr lang="en-IN" b="1" dirty="0"/>
              <a:t>Hardware Requirements </a:t>
            </a:r>
          </a:p>
          <a:p>
            <a:r>
              <a:rPr lang="en-IN" sz="2400" dirty="0"/>
              <a:t>Operating System: Windows / Linux</a:t>
            </a:r>
          </a:p>
          <a:p>
            <a:r>
              <a:rPr lang="en-US" sz="2400" dirty="0"/>
              <a:t>Processor: Intel i5 or above</a:t>
            </a:r>
          </a:p>
          <a:p>
            <a:r>
              <a:rPr lang="en-IN" sz="2400" dirty="0"/>
              <a:t>RAM: Minimum 8 GB</a:t>
            </a:r>
          </a:p>
          <a:p>
            <a:r>
              <a:rPr lang="en-US" sz="2400" dirty="0"/>
              <a:t>Storage: Minimum 25 GB free space</a:t>
            </a:r>
          </a:p>
          <a:p>
            <a:r>
              <a:rPr lang="en-US" sz="2400" dirty="0"/>
              <a:t>Network: Internet connection (for federated model communication)</a:t>
            </a:r>
          </a:p>
        </p:txBody>
      </p:sp>
    </p:spTree>
    <p:extLst>
      <p:ext uri="{BB962C8B-B14F-4D97-AF65-F5344CB8AC3E}">
        <p14:creationId xmlns:p14="http://schemas.microsoft.com/office/powerpoint/2010/main" val="165680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CA597-9331-6982-AC74-1B975DA3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36F1B-7B86-585E-3188-7BAB5A94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9F8A53-A085-E642-B2AC-E1BBE6455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4"/>
            <a:ext cx="10515600" cy="4925961"/>
          </a:xfrm>
        </p:spPr>
        <p:txBody>
          <a:bodyPr>
            <a:noAutofit/>
          </a:bodyPr>
          <a:lstStyle/>
          <a:p>
            <a:r>
              <a:rPr lang="en-US" sz="2400" dirty="0"/>
              <a:t>Use Federated Learning to build a privacy-preserving Flood Forecasting Model.</a:t>
            </a:r>
          </a:p>
          <a:p>
            <a:r>
              <a:rPr lang="en-US" sz="2400" dirty="0"/>
              <a:t>Collect environmental data (rainfall, water level, snow melting, flow routing) at local stations.</a:t>
            </a:r>
          </a:p>
          <a:p>
            <a:r>
              <a:rPr lang="en-US" sz="2400" dirty="0"/>
              <a:t>Train local FFNN models at each client using local data.</a:t>
            </a:r>
          </a:p>
          <a:p>
            <a:r>
              <a:rPr lang="en-US" sz="2400" dirty="0"/>
              <a:t>Share only model parameters, not raw data, with the central server.</a:t>
            </a:r>
          </a:p>
          <a:p>
            <a:r>
              <a:rPr lang="en-US" sz="2400" dirty="0"/>
              <a:t>Central server aggregates models using Federated Averaging (</a:t>
            </a:r>
            <a:r>
              <a:rPr lang="en-US" sz="2400" dirty="0" err="1"/>
              <a:t>FedFlood</a:t>
            </a:r>
            <a:r>
              <a:rPr lang="en-US" sz="2400" dirty="0"/>
              <a:t>) to create a global model.</a:t>
            </a:r>
          </a:p>
          <a:p>
            <a:r>
              <a:rPr lang="en-US" sz="2400" dirty="0"/>
              <a:t>Global model predicts flood risk and expected water level and provides 5-day early warning alerts.</a:t>
            </a:r>
          </a:p>
        </p:txBody>
      </p:sp>
    </p:spTree>
    <p:extLst>
      <p:ext uri="{BB962C8B-B14F-4D97-AF65-F5344CB8AC3E}">
        <p14:creationId xmlns:p14="http://schemas.microsoft.com/office/powerpoint/2010/main" val="355078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F0DC-791A-0B98-95C8-3E216159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D1D4-89D7-CB7B-C11E-FFD4FDCAD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"/>
            <a:ext cx="8596668" cy="72758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D64EAF-0718-07E7-96B1-E84024600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3106" y="393290"/>
            <a:ext cx="2959100" cy="60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72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AB919-2A80-C0B0-5A49-36F298A8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C4729-028F-7554-2752-AA15DF8DF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560"/>
            <a:ext cx="12192000" cy="575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8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3ABF1-68A3-EC1E-105F-0D3567FF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57114-D82E-5422-44B8-251CB3A40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777"/>
            <a:ext cx="12192000" cy="588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97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86A36-066C-0A69-A42E-BDEE751B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869691-8540-5D6C-662E-6535D36C6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52"/>
            <a:ext cx="12192000" cy="572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6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D729-3752-E727-6E2D-8DCD64719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M. S. Farooq et al., “FFM: Flood Forecasting Model Using Federated Learning,” </a:t>
            </a:r>
            <a:r>
              <a:rPr lang="en-US" sz="2400" i="1" dirty="0"/>
              <a:t>IEEE Access</a:t>
            </a:r>
            <a:r>
              <a:rPr lang="en-US" sz="2400" dirty="0"/>
              <a:t>, vol. 11, 2023.</a:t>
            </a:r>
          </a:p>
          <a:p>
            <a:r>
              <a:rPr lang="en-US" sz="2400" dirty="0"/>
              <a:t>S. Sankaranarayanan et al., “Flood Prediction Based on Weather Parameters Using Deep Learning,” </a:t>
            </a:r>
            <a:r>
              <a:rPr lang="en-US" sz="2400" i="1" dirty="0"/>
              <a:t>Journal of Water and Climate Change</a:t>
            </a:r>
            <a:r>
              <a:rPr lang="en-US" sz="2400" dirty="0"/>
              <a:t>, 2020.</a:t>
            </a:r>
          </a:p>
          <a:p>
            <a:endParaRPr 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270F01-D72F-F9BD-B2D2-B74606E1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28386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433B-EC08-AC05-AE27-1605D077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A08F-10E7-96CB-77B1-246FBAC0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496479"/>
            <a:ext cx="8596668" cy="78556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Course of Action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9B566A-2D55-653A-5E97-AE7E3D557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Extend the system to cover more rivers and geographical regions for wider flood prediction.</a:t>
            </a:r>
          </a:p>
          <a:p>
            <a:r>
              <a:rPr lang="en-US" sz="2400" dirty="0"/>
              <a:t>Integrate real-time IoT sensor data for continuous monitoring and faster prediction.</a:t>
            </a:r>
          </a:p>
          <a:p>
            <a:r>
              <a:rPr lang="en-US" sz="2400" dirty="0"/>
              <a:t>Enhance the system to provide mobile and web-based alert notifications for public safety.</a:t>
            </a:r>
          </a:p>
          <a:p>
            <a:r>
              <a:rPr lang="en-US" sz="2400" dirty="0"/>
              <a:t>Deploy the system in real-world environments for large-scale disaster management.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4123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039527-B2AD-800A-DEF0-C6ED35DFD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0087"/>
            <a:ext cx="10515600" cy="1294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8AA397-C321-1FCB-0E71-AA9F5632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7238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85F961-5B81-4B56-9CB3-A56E51154BB6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5209</TotalTime>
  <Words>896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CG omega</vt:lpstr>
      <vt:lpstr>Times New Roman</vt:lpstr>
      <vt:lpstr>Office Theme</vt:lpstr>
      <vt:lpstr>FFM: Flood Forecasting Model using Federated Learning  </vt:lpstr>
      <vt:lpstr>Abstract :</vt:lpstr>
      <vt:lpstr>Introduction </vt:lpstr>
      <vt:lpstr>Literature Review and Objectives</vt:lpstr>
      <vt:lpstr>Existing Systems</vt:lpstr>
      <vt:lpstr>Functional Requirements</vt:lpstr>
      <vt:lpstr>Non-Functional Requirements</vt:lpstr>
      <vt:lpstr>PowerPoint Presentation</vt:lpstr>
      <vt:lpstr>Proposed Methodology</vt:lpstr>
      <vt:lpstr>System Architecture</vt:lpstr>
      <vt:lpstr>PowerPoint Presentation</vt:lpstr>
      <vt:lpstr>PowerPoint Presentation</vt:lpstr>
      <vt:lpstr>PowerPoint Presentation</vt:lpstr>
      <vt:lpstr>References</vt:lpstr>
      <vt:lpstr>Future Course of 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IOMP TITLE</dc:title>
  <dc:creator>C ARYAN</dc:creator>
  <cp:lastModifiedBy>BODDUPALLY ABHILASH</cp:lastModifiedBy>
  <cp:revision>69</cp:revision>
  <dcterms:created xsi:type="dcterms:W3CDTF">2024-08-02T07:32:03Z</dcterms:created>
  <dcterms:modified xsi:type="dcterms:W3CDTF">2026-04-09T17:33:12Z</dcterms:modified>
</cp:coreProperties>
</file>